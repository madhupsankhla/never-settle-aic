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65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SoleSight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2735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80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Settle | IIT Gandhinagar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04175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Athrava </a:t>
            </a:r>
            <a:r>
              <a:rPr lang="en-US" sz="1400" dirty="0" err="1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Zagade</a:t>
            </a:r>
            <a:r>
              <a:rPr lang="en-US" sz="140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Aaditya Bhandari | Madhup Sankhla 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58368" y="460688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Enterprise Retail SaaS   |   Target: Multi-Store Footwear Chains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B2B Annual License + Per-Store SaaS   |   Date: August 2026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under 45 days   |   Targeted 29.8x logistics ROI   |   $3.8B addressable market</a:t>
            </a:r>
            <a:endParaRPr lang="en-US" sz="115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D5E5241-5588-E548-A2D5-1016F415C9F2}"/>
              </a:ext>
            </a:extLst>
          </p:cNvPr>
          <p:cNvSpPr txBox="1"/>
          <p:nvPr/>
        </p:nvSpPr>
        <p:spPr>
          <a:xfrm>
            <a:off x="658368" y="4300559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Causal Decision Intelligence for Retail Footwear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narrow, defensible wedge with a fast, provable payback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7040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retail loses revenue at one predictable point: the try-on bench. When a core size is out of stock, footfall holds steady but conversion collapses -- shoes are not substitutable across sizes the way apparel or electronics variants often are. Existing tools report what happened days later; SoleSight identifies why it happened in real time, with mathematical proof, and recommends a feasibility-checked fix.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2044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go-to-market plan converts founder-led pilots into documented, referenceable savings before scaling toward a $5 million ARR milestone in Year 2, inside an estimated $3.8 billion global retail-analytics market.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1600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13.4L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22585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weekly revenue per flagship store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8072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45 days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34655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Buyer-side payback period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401421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29.8x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46725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ROI on incremental logistics spend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522122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$5M ARR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58795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go-to-market milestone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 --  2.1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structural, industry-wide condition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SoleSight, five conditions recur across D2C and hybrid footwear/apparel brands at any scale: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965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E-commerce, retail POS, wholesale and marketplace channels each hold a partial view of demand.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32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/ size / colourway complexity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53288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multiplies each style across sizes and colourways, breaking manual forecasting.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998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erosion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0998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markdowns and overstock-vs-stockout mismatches steadily erode gross margin.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667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marketing attribution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66674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footfall are tracked apart from in-store conversion, mis-stating channel ROI.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336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manual decision cycles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2336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chains still reconcile these signals on a multi-day spreadsheet cycle.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123444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5836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 signal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285232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-- margin pressure and discounting are industry-wide, not brand-specific.   Technological -- the shift to omnichannel has outpaced most chains' analytics stack.   Social -- return-heavy shopping behaviour is now the norm and inflates reverse-logistics cost.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 --  2.2 / 2.3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 wedge, and the solution at a concept level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94960" cy="448056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8105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We Target First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Size-curve stockout attribution and feasibility-checked restocking for physical footwear retail -- not general omnichannel BI, not apparel or accessories assortment planning, and not wholesale demand planning, yet.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scope is deliberate: footwear is the category where a stockout most directly and measurably destroys a sale, because sizes are not substitutable the way apparel or electronics variants often are.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5577840" cy="448056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0800" y="1810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Solution, at a Concept Level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402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decision-intelligence layer that sits above a retailer's existing POS, inventory and footfall systems -- continuously screening for anomalies, mathematically isolating whether a sales drop is a size-curve stockout, and proposing an inter-branch restock only where it is logistically feasible.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2976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and auditable rather than a black-box AI recommendation -- built to be trusted by finance and operations leaders, not just data teams.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 --  3.3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84832" cy="233172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66928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231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8803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footfall sensors, inventory / ERP, staff rosters -- per store, per SKU-size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2523744" y="28575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06624" y="1920240"/>
            <a:ext cx="2084832" cy="2331720"/>
          </a:xfrm>
          <a:prstGeom prst="rect">
            <a:avLst/>
          </a:prstGeom>
          <a:solidFill>
            <a:srgbClr val="0A2B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816352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816352" y="24231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816352" y="28803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connectors feed an in-memory OLAP engine, no multi-day batch cycle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28575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56048" y="1920240"/>
            <a:ext cx="2084832" cy="233172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065776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4231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Layer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65776" y="28803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z-score anomaly screening + dose-response OLS causal triangulation</a:t>
            </a:r>
            <a:endParaRPr lang="en-US" sz="980" dirty="0"/>
          </a:p>
        </p:txBody>
      </p:sp>
      <p:sp>
        <p:nvSpPr>
          <p:cNvPr id="20" name="Text 18"/>
          <p:cNvSpPr txBox="1"/>
          <p:nvPr/>
        </p:nvSpPr>
        <p:spPr>
          <a:xfrm>
            <a:off x="7022592" y="28575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1920240"/>
            <a:ext cx="2084832" cy="2331720"/>
          </a:xfrm>
          <a:prstGeom prst="rect">
            <a:avLst/>
          </a:prstGeom>
          <a:solidFill>
            <a:srgbClr val="0A2B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31520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24231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Copilot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8803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views for Store, Regional and Boardroom, same causal proof</a:t>
            </a:r>
            <a:endParaRPr lang="en-US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9272016" y="28575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454896" y="1920240"/>
            <a:ext cx="2084832" cy="233172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9564624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564624" y="242316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Loop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564624" y="28803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Feasibility-checked restock request, dispatched and fed back as validation data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11247120" cy="141732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58368" y="4773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Output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5102352"/>
            <a:ext cx="10835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flow converts raw, multi-channel store data into a real-time, mathematically proven root-cause diagnosis and a feasibility-checked restock action -- cutting detection latency from 4-7 days to under 2 seconds, and recovering an estimated Rs 13.4 lakh in weekly revenue per flagship store.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 --  4A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personas: decision rights &amp; value realization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Owned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Realization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Ops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(Rahul Sharma)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SKUs/sizes to flag for emergency restock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Pinpoints size deficits and training gaps; instant restock 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Ops Director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(Priya Nair)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reallocate stock across a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reallocation proposals with pre-vetted feasibility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Growth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(Vikram Mehta)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campaigns/channels to fund or pause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Isolates true campaign footfall lift (+3.9%) from floor leakage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(Ananya Verma)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approve emergency logistics spend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Quantifies P&amp;L leakage (Rs 54.2L network-wide) and proves ROI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57200" y="5166360"/>
            <a:ext cx="11247120" cy="91440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58368" y="5349240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Canvas -- each persona's pains and desired gains map directly to a SoleSight pain reliever or gain creator: real-time floor visibility, defensible marketing attribution, and auditable P&amp;L leakage reporting.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 --  4B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scope: a tangible expansion roadmap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today's four personas, each candidate below needs one new module or data source -- not a re-platform.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97480" cy="329184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/ Buying Leads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290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Pre-season assortment and open-to-buy planning 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103120"/>
            <a:ext cx="2697480" cy="329184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/ ESG Leads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4290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Returns-to-landfill and logistics-emissions data feed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697480" cy="329184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0080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/ Key Account Managers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4290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order and sell-through data integration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2103120"/>
            <a:ext cx="2697480" cy="329184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281160" y="2331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UX / Conversion Teams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42900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funnel and cart-abandonment data feed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 PROPOSITION  -- 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value buckets: mutually exclusive, collectively exhaustive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40680" cy="196596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 estimated Rs 13.4 lakh in weekly lost sales per flagship store via inter-branch rebalancing before demand dissipates.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96596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53796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Recovery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2316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size-related return rates by up to 34% by eliminating forced compromise purchases.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5440680" cy="196596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31520" y="4206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70916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 estimated 15+ hours per week per regional manager on manual ERP/POS/footfall reconciliation.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977640"/>
            <a:ext cx="5440680" cy="196596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537960" y="4206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70916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campaign spend is driving real footfall, isolating that lift from floor-level conversion leakage.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--  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SoleSight differentiates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Viewed through Porter's Five Forces, the live pressure is substitution (BI and enterprise platforms customers already own) and buyer power (bespoke consulting builds) -- not new-entrant risk.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SoleSight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Size-curve causal root-cause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-- purpose-built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-- custom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-- bespoke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 data unification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-- 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attribution (no hallucination)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-- auditable 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-- rule-based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/ compromise-purchase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dashboards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-- batch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Feasibility-constrained restock recs.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time-to-value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 week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9-18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PRICING  -- 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mapped to organisation size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11880" cy="484632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18013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Operations Core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60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 stores, single-region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81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4.5L / yr + Rs 15K / store / mo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033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analytics engine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contracts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 view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refresh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1600200"/>
            <a:ext cx="3611880" cy="484632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498848" y="18013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Pro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560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30-100 stores, multi-region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3081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12L / yr + Rs 12K / store / mo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37033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integration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refresh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Return-risk module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83296" y="1600200"/>
            <a:ext cx="3611880" cy="484632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311896" y="18013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2075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Fleet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11896" y="2560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stores, global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311896" y="3081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28L / yr + Rs 9.5L / cluster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11896" y="37033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refresh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forecasting suite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success manager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PAYBACK  --  8A BUILDER SIDE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sizing: TAM to SAM to SOM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below are explicit guesstimates, to be revisited once pilot traction data is available.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595360" cy="96012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D2C and multi-store footwear/apparel retail-analytics spend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22677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~$3.8 billion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6035040" cy="96012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" y="33101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758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 footwear chains matching current product maturity (India + APAC, 10+ stores, digitised POS/ERP)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456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Low-single-digit % of TAM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3474720" cy="96012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8646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Year 1-2 capture given go-to-market capacity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645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stores; ~$5M ARR by Year 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PAYBACK  --  8B BUYER SIDE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retailer's ROI: a flagship-store model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583680" cy="914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weekly leakage (flagship store)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13,40,000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 restock recovery (~80% capture)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10,72,000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Inter-branch dispatch logistics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36,000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weekly 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10,36,000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SoleSight cost (Starter, single store)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1,80,000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45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60920" y="1600200"/>
            <a:ext cx="4343400" cy="434340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58952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retention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2860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payback period this short signals renewal likelihood, not just feasibility: a customer recovering cost within weeks is materially more likely to renew and expand than one on a 12-36 month curve -- supporting a favourable long-term LTV-to-CAC ratio as the Starter and Growth cohorts mature.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  --  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five-phase market-entry sequence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121408" cy="42976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1343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Selection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260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461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Indian retailers; founder-led outreach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94360" y="4983480"/>
            <a:ext cx="1847088" cy="0"/>
          </a:xfrm>
          <a:prstGeom prst="line">
            <a:avLst/>
          </a:prstGeom>
          <a:noFill/>
          <a:ln w="9525">
            <a:solidFill>
              <a:srgbClr val="B08D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94360" y="51206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signed LOIs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724912" y="1691640"/>
            <a:ext cx="2121408" cy="4297680"/>
          </a:xfrm>
          <a:prstGeom prst="rect">
            <a:avLst/>
          </a:prstGeom>
          <a:solidFill>
            <a:srgbClr val="0A2B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862072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862072" y="231343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Acquisition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862072" y="29260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3-6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862072" y="32461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anchor logos, ~25 flagship stores live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862072" y="4983480"/>
            <a:ext cx="1847088" cy="0"/>
          </a:xfrm>
          <a:prstGeom prst="line">
            <a:avLst/>
          </a:prstGeom>
          <a:noFill/>
          <a:ln w="9525">
            <a:solidFill>
              <a:srgbClr val="B08D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2862072" y="51206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design partners live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992624" y="1691640"/>
            <a:ext cx="2121408" cy="42976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129784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129784" y="231343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&amp; Case Studies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29784" y="29260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4-6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129784" y="32461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weekly recovered leakage per store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129784" y="4983480"/>
            <a:ext cx="1847088" cy="0"/>
          </a:xfrm>
          <a:prstGeom prst="line">
            <a:avLst/>
          </a:prstGeom>
          <a:noFill/>
          <a:ln w="9525">
            <a:solidFill>
              <a:srgbClr val="B08D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129784" y="51206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25L+ documented savings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260336" y="1691640"/>
            <a:ext cx="2121408" cy="4297680"/>
          </a:xfrm>
          <a:prstGeom prst="rect">
            <a:avLst/>
          </a:prstGeom>
          <a:solidFill>
            <a:srgbClr val="0A2B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7397496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7397496" y="231343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Expansion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97496" y="29260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7-12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397496" y="32461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chains, metro hubs, adjacent apparel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397496" y="4983480"/>
            <a:ext cx="1847088" cy="0"/>
          </a:xfrm>
          <a:prstGeom prst="line">
            <a:avLst/>
          </a:prstGeom>
          <a:noFill/>
          <a:ln w="9525">
            <a:solidFill>
              <a:srgbClr val="B08D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7397496" y="51206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active stores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9528048" y="1691640"/>
            <a:ext cx="2121408" cy="42976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966520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9665208" y="231343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Partnerships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665208" y="29260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665208" y="32461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sensor and SI channel partnerships; APAC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9665208" y="4983480"/>
            <a:ext cx="1847088" cy="0"/>
          </a:xfrm>
          <a:prstGeom prst="line">
            <a:avLst/>
          </a:prstGeom>
          <a:noFill/>
          <a:ln w="9525">
            <a:solidFill>
              <a:srgbClr val="B08D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9665208" y="512064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ARR milestone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 -- 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summary (technical team owns detail)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09728" cy="91440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737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1 -- Built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OLAP engine, 4-stage statistical RCA pipeline, abstention gate, dual-mode UI and AI copilot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09728" cy="91440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2 -- Q4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788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SAP S/4HANA and Oracle Retail webhooks, automated daily POS sync, store-manager alerts, multi-region RBAC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09728" cy="91440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3840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3 -- Q2 2027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840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ERP stock-transfer writeback, computer-vision shelf-void detection, dynamic markdown optimisation, apparel expansion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109728" cy="914400"/>
          </a:xfrm>
          <a:prstGeom prst="rect">
            <a:avLst/>
          </a:prstGeom>
          <a:solidFill>
            <a:srgbClr val="B08D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77240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4 -- 2028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4892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cloud scale, cross-retailer anonymised benchmarking, edge-AI in-store inference, native mobile field app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direction summary; the technical roadmap document holds full detail.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IMPACT ASSESSMENT  --  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tree: adoption and usage checkpoints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from the Year-2 SOM goal (Section 8A). Figures are placeholders to be replaced with real numbers as pilots close.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Usage 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pilot users onboarded across design partners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data pipelines connected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organisations across all 3 design partners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Multi-million-row data volumes integrated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share of pilot brands renewed / expanded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data-source coverage per 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cohort of paying enterprise accounts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10M+ rows processed cumulatively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12+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logo growth toward 500 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20M+ rows; multi-brand data 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  --  12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+ PESTEL, condensed to a risk register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40680" cy="105156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engine; narrow defensible wedge; sub-1-week time-to-value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105156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4652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6596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integration footprint; dependent on customer data quality; small team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5440680" cy="105156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008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546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underserved footwear-analytics niche; expansion into apparel and new personas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2788920"/>
            <a:ext cx="5440680" cy="1051560"/>
          </a:xfrm>
          <a:prstGeom prst="rect">
            <a:avLst/>
          </a:prstGeom>
          <a:solidFill>
            <a:srgbClr val="E9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4652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1546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platforms adding native features; build-vs-buy pressure at largest accounts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Risk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Timing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integration complexity with legacy ERPs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Day-0 -- before pilot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integration team; phased data audit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Incumbent BI tools add vertical features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Later-stage -- monitor from Month 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Deepen footwear-specific taxonomy moat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confidence in AI output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Day-0 -- before pilot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Hardcoded abstention gate; deterministic proofs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-- 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evidence-based case, not an aspirational 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6949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E9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SoleSight rests on numbers already established in this document: recoverable weekly revenue, a sub-45-day payback period, a targeted 29.8x logistics ROI, and meaningful weekly labour savings per regional manager. Layered onto a defensible, narrowly scoped wedge and a five-phase go-to-market plan sequenced toward a $5 million ARR milestone in Year 2, this is a case a CFO or COO reviewer can verify line by line.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81812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13.4L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2267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revenue recovery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3108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29.8x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36393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ROI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4480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50109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ARR milestone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SoleSight  --  Commercial Business Proposal &amp; Growth Strategy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Index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6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frameworks applied in this document and where each was used.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PESTEL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Macro-environment scan of the footwear/D2C industry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Problem Framing; 12 Risks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and external positioning of SoleSight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Key Risks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MECE Principle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Non-overlapping, complete value-proposition buckets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Value Prop; 7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/ SAM / SOM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Market-sizing funnel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8A Builder-Side Payback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Porter's Five Forces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intensity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Competitive Landscape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Proposition Canvas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customer pains/gains to product relievers/creators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4A Target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Economics (Payback)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SaaS financial-health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 Buyer-Side Payback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OKR / KPI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Cascades a goal into time-boxed checkpoints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Phased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2232</Words>
  <Application>Microsoft Office PowerPoint</Application>
  <PresentationFormat>Widescreen</PresentationFormat>
  <Paragraphs>378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Madhup Sankhla</cp:lastModifiedBy>
  <cp:revision>3</cp:revision>
  <dcterms:created xsi:type="dcterms:W3CDTF">2026-08-30T15:40:35Z</dcterms:created>
  <dcterms:modified xsi:type="dcterms:W3CDTF">2026-08-30T15:46:45Z</dcterms:modified>
</cp:coreProperties>
</file>